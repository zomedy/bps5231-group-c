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3" roundtripDataSignature="AMtx7minIRhLQSV/6UG+YDywiU80uXvp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91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customschemas.google.com/relationships/presentationmetadata" Target="meta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" name="Google Shape;1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" name="Google Shape;3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3" name="Google Shape;183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STER">
  <p:cSld name="MASTER">
    <p:bg>
      <p:bgPr>
        <a:solidFill>
          <a:srgbClr val="F7F9FC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4E79"/>
          </a:solidFill>
          <a:ln w="12700" cap="flat" cmpd="sng">
            <a:solidFill>
              <a:srgbClr val="1E4E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16"/>
          <p:cNvSpPr txBox="1">
            <a:spLocks noGrp="1"/>
          </p:cNvSpPr>
          <p:nvPr>
            <p:ph type="sldNum" idx="12"/>
          </p:nvPr>
        </p:nvSpPr>
        <p:spPr>
          <a:xfrm>
            <a:off x="11686032" y="6537960"/>
            <a:ext cx="18288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7A879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7A879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7A879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7A879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7A879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7A879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7A879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7A879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7A879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>
            <a:spLocks noGrp="1"/>
          </p:cNvSpPr>
          <p:nvPr>
            <p:ph type="sldNum" idx="12"/>
          </p:nvPr>
        </p:nvSpPr>
        <p:spPr>
          <a:xfrm>
            <a:off x="11686032" y="6537960"/>
            <a:ext cx="18288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7A879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7A879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7A879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7A879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7A879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7A879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7A879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7A879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7A879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B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"/>
          <p:cNvSpPr/>
          <p:nvPr/>
        </p:nvSpPr>
        <p:spPr>
          <a:xfrm>
            <a:off x="0" y="109728"/>
            <a:ext cx="12191695" cy="6428232"/>
          </a:xfrm>
          <a:prstGeom prst="rect">
            <a:avLst/>
          </a:prstGeom>
          <a:solidFill>
            <a:srgbClr val="F3F7FB"/>
          </a:solidFill>
          <a:ln w="12700" cap="flat" cmpd="sng">
            <a:solidFill>
              <a:srgbClr val="F3F7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0" y="109725"/>
            <a:ext cx="3351600" cy="6428100"/>
          </a:xfrm>
          <a:prstGeom prst="rect">
            <a:avLst/>
          </a:prstGeom>
          <a:solidFill>
            <a:srgbClr val="17365D"/>
          </a:solidFill>
          <a:ln w="12700" cap="flat" cmpd="sng">
            <a:solidFill>
              <a:srgbClr val="17365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566928" y="685800"/>
            <a:ext cx="256032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lang="en-US" sz="3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MIDTERM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lang="en-US" sz="3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REVIEW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544040" y="2494865"/>
            <a:ext cx="2606100" cy="13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EAF7"/>
              </a:buClr>
              <a:buSzPts val="1700"/>
              <a:buFont typeface="Arial"/>
              <a:buNone/>
            </a:pPr>
            <a:r>
              <a:rPr lang="en-US" sz="1700">
                <a:solidFill>
                  <a:srgbClr val="D9EAF7"/>
                </a:solidFill>
                <a:latin typeface="Arial"/>
                <a:ea typeface="Arial"/>
                <a:cs typeface="Arial"/>
                <a:sym typeface="Arial"/>
              </a:rPr>
              <a:t>Physics-based simulation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EAF7"/>
              </a:buClr>
              <a:buSzPts val="1700"/>
              <a:buFont typeface="Arial"/>
              <a:buNone/>
            </a:pPr>
            <a:r>
              <a:rPr lang="en-US" sz="1700">
                <a:solidFill>
                  <a:srgbClr val="D9EAF7"/>
                </a:solidFill>
                <a:latin typeface="Arial"/>
                <a:ea typeface="Arial"/>
                <a:cs typeface="Arial"/>
                <a:sym typeface="Arial"/>
              </a:rPr>
              <a:t>→ data generation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EAF7"/>
              </a:buClr>
              <a:buSzPts val="1700"/>
              <a:buFont typeface="Arial"/>
              <a:buNone/>
            </a:pPr>
            <a:r>
              <a:rPr lang="en-US" sz="1700">
                <a:solidFill>
                  <a:srgbClr val="D9EAF7"/>
                </a:solidFill>
                <a:latin typeface="Arial"/>
                <a:ea typeface="Arial"/>
                <a:cs typeface="Arial"/>
                <a:sym typeface="Arial"/>
              </a:rPr>
              <a:t>→ machine learning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566928" y="4572000"/>
            <a:ext cx="12344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None/>
            </a:pPr>
            <a:r>
              <a:rPr lang="en-US" sz="3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500</a:t>
            </a:r>
            <a:endParaRPr sz="3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566928" y="5230368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EAF7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D9EAF7"/>
                </a:solidFill>
                <a:latin typeface="Arial"/>
                <a:ea typeface="Arial"/>
                <a:cs typeface="Arial"/>
                <a:sym typeface="Arial"/>
              </a:rPr>
              <a:t>EnergyPlus cases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3633300" y="1005850"/>
            <a:ext cx="8235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3000"/>
              <a:buFont typeface="Arial"/>
              <a:buNone/>
            </a:pPr>
            <a:r>
              <a:rPr lang="en-US" sz="3000" b="1">
                <a:solidFill>
                  <a:srgbClr val="17365D"/>
                </a:solidFill>
              </a:rPr>
              <a:t>BPS5231 AI for Sustainable Building Design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3633300" y="2270300"/>
            <a:ext cx="7968600" cy="6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lang="en-US" sz="20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Data Center Heatwave Resilience: A Machine-Learning Prediction Framework Based on EnergyPlus Data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" name="Google Shape;30;p1"/>
          <p:cNvCxnSpPr/>
          <p:nvPr/>
        </p:nvCxnSpPr>
        <p:spPr>
          <a:xfrm rot="10800000" flipH="1">
            <a:off x="3633307" y="3311830"/>
            <a:ext cx="7968600" cy="19500"/>
          </a:xfrm>
          <a:prstGeom prst="straightConnector1">
            <a:avLst/>
          </a:prstGeom>
          <a:noFill/>
          <a:ln w="38100" cap="flat" cmpd="sng">
            <a:solidFill>
              <a:srgbClr val="5B9BD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1" name="Google Shape;31;p1"/>
          <p:cNvSpPr/>
          <p:nvPr/>
        </p:nvSpPr>
        <p:spPr>
          <a:xfrm>
            <a:off x="3633300" y="3820886"/>
            <a:ext cx="7583400" cy="9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75B5"/>
              </a:buClr>
              <a:buSzPts val="1100"/>
              <a:buFont typeface="Arial"/>
              <a:buNone/>
            </a:pPr>
            <a:r>
              <a:rPr lang="en-US" sz="1800" b="1">
                <a:solidFill>
                  <a:srgbClr val="2F75B5"/>
                </a:solidFill>
              </a:rPr>
              <a:t>Group C: Yang Baisong A0317341M                Zhao Dingyi A0357194U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"/>
          <p:cNvSpPr/>
          <p:nvPr/>
        </p:nvSpPr>
        <p:spPr>
          <a:xfrm>
            <a:off x="530352" y="566928"/>
            <a:ext cx="7589520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400"/>
              <a:buFont typeface="Arial"/>
              <a:buNone/>
            </a:pPr>
            <a:r>
              <a:rPr lang="en-US" sz="3000" b="1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1. Problem Description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594360" y="1143000"/>
            <a:ext cx="5577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000"/>
              <a:buFont typeface="Arial"/>
              <a:buNone/>
            </a:pPr>
            <a:r>
              <a:rPr lang="en-US" sz="2000" b="1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Heatwaves create a compound risk for data centers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594349" y="1691650"/>
            <a:ext cx="3759000" cy="132600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 cap="flat" cmpd="sng">
            <a:solidFill>
              <a:srgbClr val="D8E0E8"/>
            </a:solidFill>
            <a:prstDash val="solid"/>
            <a:round/>
            <a:headEnd type="none" w="sm" len="sm"/>
            <a:tailEnd type="none" w="sm" len="sm"/>
          </a:ln>
          <a:effectLst>
            <a:outerShdw blurRad="19050" dist="7620" dir="27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594360" y="1691640"/>
            <a:ext cx="64008" cy="1325880"/>
          </a:xfrm>
          <a:prstGeom prst="rect">
            <a:avLst/>
          </a:prstGeom>
          <a:solidFill>
            <a:srgbClr val="C00000"/>
          </a:solidFill>
          <a:ln w="127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795528" y="1837944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1400"/>
              <a:buFont typeface="Arial"/>
              <a:buNone/>
            </a:pPr>
            <a:r>
              <a:rPr lang="en-US" sz="1800" b="1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External stress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795525" y="2203700"/>
            <a:ext cx="34428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Higher outdoor temperature increases envelope heat gain; the simplified model also accounts for cooling-capacity degradation as heatwave intensity rises.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594349" y="3246125"/>
            <a:ext cx="3759000" cy="132600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 cap="flat" cmpd="sng">
            <a:solidFill>
              <a:srgbClr val="D8E0E8"/>
            </a:solidFill>
            <a:prstDash val="solid"/>
            <a:round/>
            <a:headEnd type="none" w="sm" len="sm"/>
            <a:tailEnd type="none" w="sm" len="sm"/>
          </a:ln>
          <a:effectLst>
            <a:outerShdw blurRad="241935000" dist="96774000" algn="bl" rotWithShape="0">
              <a:srgbClr val="000000">
                <a:alpha val="21961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594360" y="3246120"/>
            <a:ext cx="64008" cy="1325880"/>
          </a:xfrm>
          <a:prstGeom prst="rect">
            <a:avLst/>
          </a:prstGeom>
          <a:solidFill>
            <a:srgbClr val="BF9000"/>
          </a:solidFill>
          <a:ln w="12700" cap="flat" cmpd="sng">
            <a:solidFill>
              <a:srgbClr val="BF9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795528" y="3392424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1400"/>
              <a:buFont typeface="Arial"/>
              <a:buNone/>
            </a:pPr>
            <a:r>
              <a:rPr lang="en-US" sz="1800" b="1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Internal stress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795525" y="3758175"/>
            <a:ext cx="34428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IT servers are 24/7 high-density heat sources; higher IT load increases the continuous heat-removal requirement.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594350" y="4800600"/>
            <a:ext cx="3759000" cy="132600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 cap="flat" cmpd="sng">
            <a:solidFill>
              <a:srgbClr val="D8E0E8"/>
            </a:solidFill>
            <a:prstDash val="solid"/>
            <a:round/>
            <a:headEnd type="none" w="sm" len="sm"/>
            <a:tailEnd type="none" w="sm" len="sm"/>
          </a:ln>
          <a:effectLst>
            <a:outerShdw dist="669153344" algn="bl" rotWithShape="0">
              <a:srgbClr val="000000">
                <a:alpha val="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594354" y="4800600"/>
            <a:ext cx="63900" cy="1326000"/>
          </a:xfrm>
          <a:prstGeom prst="rect">
            <a:avLst/>
          </a:prstGeom>
          <a:solidFill>
            <a:srgbClr val="548235"/>
          </a:solidFill>
          <a:ln w="12700" cap="flat" cmpd="sng">
            <a:solidFill>
              <a:srgbClr val="5482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795528" y="4946904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1400"/>
              <a:buFont typeface="Arial"/>
              <a:buNone/>
            </a:pPr>
            <a:r>
              <a:rPr lang="en-US" sz="1800" b="1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Operational control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795525" y="5312675"/>
            <a:ext cx="34428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Cooling setpoint and available cooling capacity jointly determine whether the system can maintain a safe thermal environment.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" name="Google Shape;52;p2"/>
          <p:cNvCxnSpPr>
            <a:stCxn id="40" idx="3"/>
          </p:cNvCxnSpPr>
          <p:nvPr/>
        </p:nvCxnSpPr>
        <p:spPr>
          <a:xfrm rot="10800000" flipH="1">
            <a:off x="4353349" y="2344750"/>
            <a:ext cx="1127700" cy="9900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3" name="Google Shape;53;p2"/>
          <p:cNvCxnSpPr>
            <a:stCxn id="44" idx="3"/>
          </p:cNvCxnSpPr>
          <p:nvPr/>
        </p:nvCxnSpPr>
        <p:spPr>
          <a:xfrm rot="10800000" flipH="1">
            <a:off x="4353349" y="3886325"/>
            <a:ext cx="1133100" cy="22800"/>
          </a:xfrm>
          <a:prstGeom prst="straightConnector1">
            <a:avLst/>
          </a:prstGeom>
          <a:noFill/>
          <a:ln w="25400" cap="flat" cmpd="sng">
            <a:solidFill>
              <a:srgbClr val="BF9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4" name="Google Shape;54;p2"/>
          <p:cNvCxnSpPr>
            <a:stCxn id="48" idx="3"/>
          </p:cNvCxnSpPr>
          <p:nvPr/>
        </p:nvCxnSpPr>
        <p:spPr>
          <a:xfrm rot="10800000" flipH="1">
            <a:off x="4353350" y="5440800"/>
            <a:ext cx="1133100" cy="22800"/>
          </a:xfrm>
          <a:prstGeom prst="straightConnector1">
            <a:avLst/>
          </a:prstGeom>
          <a:noFill/>
          <a:ln w="25400" cap="flat" cmpd="sng">
            <a:solidFill>
              <a:srgbClr val="548235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5" name="Google Shape;55;p2"/>
          <p:cNvSpPr/>
          <p:nvPr/>
        </p:nvSpPr>
        <p:spPr>
          <a:xfrm>
            <a:off x="5577850" y="1691650"/>
            <a:ext cx="2314200" cy="4434900"/>
          </a:xfrm>
          <a:prstGeom prst="roundRect">
            <a:avLst>
              <a:gd name="adj" fmla="val 16667"/>
            </a:avLst>
          </a:prstGeom>
          <a:solidFill>
            <a:srgbClr val="17365D"/>
          </a:solidFill>
          <a:ln w="12700" cap="flat" cmpd="sng">
            <a:solidFill>
              <a:srgbClr val="17365D"/>
            </a:solidFill>
            <a:prstDash val="solid"/>
            <a:round/>
            <a:headEnd type="none" w="sm" len="sm"/>
            <a:tailEnd type="none" w="sm" len="sm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5889127" y="2103120"/>
            <a:ext cx="16917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HALL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5889140" y="2843765"/>
            <a:ext cx="16917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CE6F1"/>
              </a:buClr>
              <a:buSzPts val="1400"/>
              <a:buFont typeface="Arial"/>
              <a:buNone/>
            </a:pPr>
            <a:r>
              <a:rPr lang="en-US" sz="1600">
                <a:solidFill>
                  <a:schemeClr val="lt1"/>
                </a:solidFill>
              </a:rPr>
              <a:t>Thermal balance</a:t>
            </a:r>
            <a:endParaRPr sz="1600">
              <a:solidFill>
                <a:schemeClr val="lt1"/>
              </a:solidFill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CE6F1"/>
              </a:buClr>
              <a:buSzPts val="1400"/>
              <a:buFont typeface="Arial"/>
              <a:buNone/>
            </a:pPr>
            <a:r>
              <a:rPr lang="en-US" sz="1600">
                <a:solidFill>
                  <a:schemeClr val="lt1"/>
                </a:solidFill>
              </a:rPr>
              <a:t>&amp; cooling capacity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5889140" y="4215390"/>
            <a:ext cx="16917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Tmax</a:t>
            </a:r>
            <a:endParaRPr sz="1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endParaRPr sz="1600">
              <a:solidFill>
                <a:srgbClr val="FFFFFF"/>
              </a:solidFill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Risk hours</a:t>
            </a:r>
            <a:endParaRPr sz="1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endParaRPr sz="1600">
              <a:solidFill>
                <a:srgbClr val="FFFFFF"/>
              </a:solidFill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Cooling demand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" name="Google Shape;59;p2"/>
          <p:cNvCxnSpPr/>
          <p:nvPr/>
        </p:nvCxnSpPr>
        <p:spPr>
          <a:xfrm>
            <a:off x="7900808" y="3589018"/>
            <a:ext cx="1005900" cy="0"/>
          </a:xfrm>
          <a:prstGeom prst="straightConnector1">
            <a:avLst/>
          </a:prstGeom>
          <a:noFill/>
          <a:ln w="25400" cap="flat" cmpd="sng">
            <a:solidFill>
              <a:srgbClr val="2F75B5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Google Shape;60;p2"/>
          <p:cNvSpPr/>
          <p:nvPr/>
        </p:nvSpPr>
        <p:spPr>
          <a:xfrm>
            <a:off x="8915400" y="1691650"/>
            <a:ext cx="2770500" cy="443490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 cap="flat" cmpd="sng">
            <a:solidFill>
              <a:srgbClr val="D8E0E8"/>
            </a:solidFill>
            <a:prstDash val="solid"/>
            <a:round/>
            <a:headEnd type="none" w="sm" len="sm"/>
            <a:tailEnd type="none" w="sm" len="sm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8915251" y="1691651"/>
            <a:ext cx="63900" cy="4434900"/>
          </a:xfrm>
          <a:prstGeom prst="rect">
            <a:avLst/>
          </a:prstGeom>
          <a:solidFill>
            <a:srgbClr val="2F75B5"/>
          </a:solidFill>
          <a:ln w="12700" cap="flat" cmpd="sng">
            <a:solidFill>
              <a:srgbClr val="2F75B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9116568" y="2271808"/>
            <a:ext cx="21945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1400"/>
              <a:buFont typeface="Arial"/>
              <a:buNone/>
            </a:pPr>
            <a:r>
              <a:rPr lang="en-US" sz="1800" b="1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Research question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9116575" y="2935225"/>
            <a:ext cx="2481300" cy="30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Can physics-based simulations generate training data for ML models that rapidly predict thermal risk and cooling performance under different heatwave and operating conditions?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11686032" y="6537960"/>
            <a:ext cx="18288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 b="0">
                <a:solidFill>
                  <a:srgbClr val="7A8793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800">
              <a:solidFill>
                <a:srgbClr val="7A879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"/>
          <p:cNvSpPr/>
          <p:nvPr/>
        </p:nvSpPr>
        <p:spPr>
          <a:xfrm>
            <a:off x="530352" y="566928"/>
            <a:ext cx="7589520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400"/>
              <a:buFont typeface="Arial"/>
              <a:buNone/>
            </a:pPr>
            <a:r>
              <a:rPr lang="en-US" sz="3000" b="1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2. Current Progress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1" name="Google Shape;71;p3"/>
          <p:cNvGrpSpPr/>
          <p:nvPr/>
        </p:nvGrpSpPr>
        <p:grpSpPr>
          <a:xfrm>
            <a:off x="252991" y="2157084"/>
            <a:ext cx="2084433" cy="2657675"/>
            <a:chOff x="505963" y="2063698"/>
            <a:chExt cx="1994100" cy="2542500"/>
          </a:xfrm>
        </p:grpSpPr>
        <p:sp>
          <p:nvSpPr>
            <p:cNvPr id="72" name="Google Shape;72;p3"/>
            <p:cNvSpPr/>
            <p:nvPr/>
          </p:nvSpPr>
          <p:spPr>
            <a:xfrm>
              <a:off x="505963" y="2063698"/>
              <a:ext cx="1994100" cy="25425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4475" cap="flat" cmpd="sng">
              <a:solidFill>
                <a:srgbClr val="C9D4DF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algn="bl" rotWithShape="0">
                <a:srgbClr val="000000">
                  <a:alpha val="0"/>
                </a:srgbClr>
              </a:outerShdw>
            </a:effectLst>
          </p:spPr>
          <p:txBody>
            <a:bodyPr spcFirstLastPara="1" wrap="square" lIns="104200" tIns="52075" rIns="104200" bIns="520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4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3"/>
            <p:cNvSpPr/>
            <p:nvPr/>
          </p:nvSpPr>
          <p:spPr>
            <a:xfrm>
              <a:off x="1223822" y="2293016"/>
              <a:ext cx="548400" cy="548700"/>
            </a:xfrm>
            <a:prstGeom prst="ellipse">
              <a:avLst/>
            </a:prstGeom>
            <a:solidFill>
              <a:srgbClr val="548235"/>
            </a:solidFill>
            <a:ln w="10850" cap="flat" cmpd="sng">
              <a:solidFill>
                <a:srgbClr val="5482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279"/>
                <a:buFont typeface="Arial"/>
                <a:buNone/>
              </a:pPr>
              <a:r>
                <a:rPr lang="en-US" sz="2475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sz="247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655517" y="3010879"/>
              <a:ext cx="1695000" cy="34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17365D"/>
                </a:buClr>
                <a:buSzPts val="1482"/>
                <a:buFont typeface="Arial"/>
                <a:buNone/>
              </a:pPr>
              <a:r>
                <a:rPr lang="en-US" sz="1677" b="1">
                  <a:solidFill>
                    <a:srgbClr val="17365D"/>
                  </a:solidFill>
                  <a:latin typeface="Arial"/>
                  <a:ea typeface="Arial"/>
                  <a:cs typeface="Arial"/>
                  <a:sym typeface="Arial"/>
                </a:rPr>
                <a:t>DesignBuilder</a:t>
              </a:r>
              <a:endParaRPr sz="16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3"/>
            <p:cNvSpPr/>
            <p:nvPr/>
          </p:nvSpPr>
          <p:spPr>
            <a:xfrm>
              <a:off x="655517" y="3509396"/>
              <a:ext cx="1695000" cy="79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1F2937"/>
                </a:buClr>
                <a:buSzPts val="1197"/>
                <a:buFont typeface="Arial"/>
                <a:buNone/>
              </a:pPr>
              <a:r>
                <a:rPr lang="en-US" sz="1393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Data Hall + plenums</a:t>
              </a:r>
              <a:endParaRPr sz="1393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93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Singapore weather</a:t>
              </a:r>
              <a:endParaRPr sz="1791"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93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IT / lighting / equipment</a:t>
              </a:r>
              <a:endParaRPr sz="1791"/>
            </a:p>
          </p:txBody>
        </p:sp>
      </p:grpSp>
      <p:grpSp>
        <p:nvGrpSpPr>
          <p:cNvPr id="76" name="Google Shape;76;p3"/>
          <p:cNvGrpSpPr/>
          <p:nvPr/>
        </p:nvGrpSpPr>
        <p:grpSpPr>
          <a:xfrm>
            <a:off x="2653506" y="2157084"/>
            <a:ext cx="2084433" cy="2657675"/>
            <a:chOff x="2606380" y="2063698"/>
            <a:chExt cx="1994100" cy="2542500"/>
          </a:xfrm>
        </p:grpSpPr>
        <p:sp>
          <p:nvSpPr>
            <p:cNvPr id="77" name="Google Shape;77;p3"/>
            <p:cNvSpPr/>
            <p:nvPr/>
          </p:nvSpPr>
          <p:spPr>
            <a:xfrm>
              <a:off x="2606380" y="2063698"/>
              <a:ext cx="1994100" cy="25425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4475" cap="flat" cmpd="sng">
              <a:solidFill>
                <a:srgbClr val="C9D4DF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algn="bl" rotWithShape="0">
                <a:srgbClr val="000000">
                  <a:alpha val="0"/>
                </a:srgbClr>
              </a:outerShdw>
            </a:effectLst>
          </p:spPr>
          <p:txBody>
            <a:bodyPr spcFirstLastPara="1" wrap="square" lIns="104200" tIns="52075" rIns="104200" bIns="520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4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3"/>
            <p:cNvSpPr/>
            <p:nvPr/>
          </p:nvSpPr>
          <p:spPr>
            <a:xfrm>
              <a:off x="3324239" y="2293016"/>
              <a:ext cx="548400" cy="548700"/>
            </a:xfrm>
            <a:prstGeom prst="ellipse">
              <a:avLst/>
            </a:prstGeom>
            <a:solidFill>
              <a:srgbClr val="548235"/>
            </a:solidFill>
            <a:ln w="10850" cap="flat" cmpd="sng">
              <a:solidFill>
                <a:srgbClr val="5482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279"/>
                <a:buFont typeface="Arial"/>
                <a:buNone/>
              </a:pPr>
              <a:r>
                <a:rPr lang="en-US" sz="2475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sz="247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3"/>
            <p:cNvSpPr/>
            <p:nvPr/>
          </p:nvSpPr>
          <p:spPr>
            <a:xfrm>
              <a:off x="2755934" y="3010879"/>
              <a:ext cx="1695000" cy="34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17365D"/>
                </a:buClr>
                <a:buSzPts val="1482"/>
                <a:buFont typeface="Arial"/>
                <a:buNone/>
              </a:pPr>
              <a:r>
                <a:rPr lang="en-US" sz="1677" b="1">
                  <a:solidFill>
                    <a:srgbClr val="17365D"/>
                  </a:solidFill>
                  <a:latin typeface="Arial"/>
                  <a:ea typeface="Arial"/>
                  <a:cs typeface="Arial"/>
                  <a:sym typeface="Arial"/>
                </a:rPr>
                <a:t>EnergyPlus</a:t>
              </a:r>
              <a:endParaRPr sz="16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3"/>
            <p:cNvSpPr/>
            <p:nvPr/>
          </p:nvSpPr>
          <p:spPr>
            <a:xfrm>
              <a:off x="2755934" y="3509396"/>
              <a:ext cx="1695000" cy="79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1F2937"/>
                </a:buClr>
                <a:buSzPts val="1197"/>
                <a:buFont typeface="Arial"/>
                <a:buNone/>
              </a:pPr>
              <a:r>
                <a:rPr lang="en-US" sz="1393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Baseline reproduction</a:t>
              </a:r>
              <a:endParaRPr sz="1393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93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Manual capacity validation</a:t>
              </a:r>
              <a:endParaRPr sz="1791"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93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Hourly outputs</a:t>
              </a:r>
              <a:endParaRPr sz="1791"/>
            </a:p>
          </p:txBody>
        </p:sp>
      </p:grpSp>
      <p:grpSp>
        <p:nvGrpSpPr>
          <p:cNvPr id="81" name="Google Shape;81;p3"/>
          <p:cNvGrpSpPr/>
          <p:nvPr/>
        </p:nvGrpSpPr>
        <p:grpSpPr>
          <a:xfrm>
            <a:off x="5054039" y="2157084"/>
            <a:ext cx="2084433" cy="2657675"/>
            <a:chOff x="5098947" y="2063698"/>
            <a:chExt cx="1994100" cy="2542500"/>
          </a:xfrm>
        </p:grpSpPr>
        <p:sp>
          <p:nvSpPr>
            <p:cNvPr id="82" name="Google Shape;82;p3"/>
            <p:cNvSpPr/>
            <p:nvPr/>
          </p:nvSpPr>
          <p:spPr>
            <a:xfrm>
              <a:off x="5098947" y="2063698"/>
              <a:ext cx="1994100" cy="25425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4475" cap="flat" cmpd="sng">
              <a:solidFill>
                <a:srgbClr val="C9D4DF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algn="bl" rotWithShape="0">
                <a:srgbClr val="000000">
                  <a:alpha val="0"/>
                </a:srgbClr>
              </a:outerShdw>
            </a:effectLst>
          </p:spPr>
          <p:txBody>
            <a:bodyPr spcFirstLastPara="1" wrap="square" lIns="104200" tIns="52075" rIns="104200" bIns="520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4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3"/>
            <p:cNvSpPr/>
            <p:nvPr/>
          </p:nvSpPr>
          <p:spPr>
            <a:xfrm>
              <a:off x="5816806" y="2293016"/>
              <a:ext cx="548400" cy="548700"/>
            </a:xfrm>
            <a:prstGeom prst="ellipse">
              <a:avLst/>
            </a:prstGeom>
            <a:solidFill>
              <a:srgbClr val="548235"/>
            </a:solidFill>
            <a:ln w="10850" cap="flat" cmpd="sng">
              <a:solidFill>
                <a:srgbClr val="5482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279"/>
                <a:buFont typeface="Arial"/>
                <a:buNone/>
              </a:pPr>
              <a:r>
                <a:rPr lang="en-US" sz="2475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sz="247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3"/>
            <p:cNvSpPr/>
            <p:nvPr/>
          </p:nvSpPr>
          <p:spPr>
            <a:xfrm>
              <a:off x="5248501" y="3010879"/>
              <a:ext cx="1695000" cy="34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17365D"/>
                </a:buClr>
                <a:buSzPts val="1482"/>
                <a:buFont typeface="Arial"/>
                <a:buNone/>
              </a:pPr>
              <a:r>
                <a:rPr lang="en-US" sz="1677" b="1">
                  <a:solidFill>
                    <a:srgbClr val="17365D"/>
                  </a:solidFill>
                  <a:latin typeface="Arial"/>
                  <a:ea typeface="Arial"/>
                  <a:cs typeface="Arial"/>
                  <a:sym typeface="Arial"/>
                </a:rPr>
                <a:t>Python Generator</a:t>
              </a:r>
              <a:endParaRPr sz="16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3"/>
            <p:cNvSpPr/>
            <p:nvPr/>
          </p:nvSpPr>
          <p:spPr>
            <a:xfrm>
              <a:off x="5248510" y="3509384"/>
              <a:ext cx="1695000" cy="104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1F2937"/>
                </a:buClr>
                <a:buSzPts val="1197"/>
                <a:buFont typeface="Arial"/>
                <a:buNone/>
              </a:pPr>
              <a:r>
                <a:rPr lang="en-US" sz="1393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IDF / EPW modification</a:t>
              </a:r>
              <a:endParaRPr sz="1393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93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LHS sampling</a:t>
              </a:r>
              <a:endParaRPr sz="1791"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93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Automated simulation &amp; extraction</a:t>
              </a:r>
              <a:endParaRPr sz="1791"/>
            </a:p>
          </p:txBody>
        </p:sp>
      </p:grpSp>
      <p:grpSp>
        <p:nvGrpSpPr>
          <p:cNvPr id="86" name="Google Shape;86;p3"/>
          <p:cNvGrpSpPr/>
          <p:nvPr/>
        </p:nvGrpSpPr>
        <p:grpSpPr>
          <a:xfrm>
            <a:off x="7454573" y="2157087"/>
            <a:ext cx="2084433" cy="2657675"/>
            <a:chOff x="7591518" y="2063701"/>
            <a:chExt cx="1994100" cy="2542500"/>
          </a:xfrm>
        </p:grpSpPr>
        <p:sp>
          <p:nvSpPr>
            <p:cNvPr id="87" name="Google Shape;87;p3"/>
            <p:cNvSpPr/>
            <p:nvPr/>
          </p:nvSpPr>
          <p:spPr>
            <a:xfrm>
              <a:off x="7591518" y="2063701"/>
              <a:ext cx="1994100" cy="25425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4475" cap="flat" cmpd="sng">
              <a:solidFill>
                <a:srgbClr val="C9D4DF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algn="bl" rotWithShape="0">
                <a:srgbClr val="000000">
                  <a:alpha val="0"/>
                </a:srgbClr>
              </a:outerShdw>
            </a:effectLst>
          </p:spPr>
          <p:txBody>
            <a:bodyPr spcFirstLastPara="1" wrap="square" lIns="104200" tIns="52075" rIns="104200" bIns="520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4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3"/>
            <p:cNvSpPr/>
            <p:nvPr/>
          </p:nvSpPr>
          <p:spPr>
            <a:xfrm>
              <a:off x="8309378" y="2293018"/>
              <a:ext cx="548400" cy="548700"/>
            </a:xfrm>
            <a:prstGeom prst="ellipse">
              <a:avLst/>
            </a:prstGeom>
            <a:solidFill>
              <a:srgbClr val="548235"/>
            </a:solidFill>
            <a:ln w="10850" cap="flat" cmpd="sng">
              <a:solidFill>
                <a:srgbClr val="5482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279"/>
                <a:buFont typeface="Arial"/>
                <a:buNone/>
              </a:pPr>
              <a:r>
                <a:rPr lang="en-US" sz="2475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sz="247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3"/>
            <p:cNvSpPr/>
            <p:nvPr/>
          </p:nvSpPr>
          <p:spPr>
            <a:xfrm>
              <a:off x="7741072" y="3010882"/>
              <a:ext cx="1695000" cy="34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17365D"/>
                </a:buClr>
                <a:buSzPts val="1482"/>
                <a:buFont typeface="Arial"/>
                <a:buNone/>
              </a:pPr>
              <a:r>
                <a:rPr lang="en-US" sz="1677" b="1">
                  <a:solidFill>
                    <a:srgbClr val="17365D"/>
                  </a:solidFill>
                  <a:latin typeface="Arial"/>
                  <a:ea typeface="Arial"/>
                  <a:cs typeface="Arial"/>
                  <a:sym typeface="Arial"/>
                </a:rPr>
                <a:t>500-case Dataset</a:t>
              </a:r>
              <a:endParaRPr sz="16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3"/>
            <p:cNvSpPr/>
            <p:nvPr/>
          </p:nvSpPr>
          <p:spPr>
            <a:xfrm>
              <a:off x="7741072" y="3509398"/>
              <a:ext cx="1695000" cy="79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1F2937"/>
                </a:buClr>
                <a:buSzPts val="1197"/>
                <a:buFont typeface="Arial"/>
                <a:buNone/>
              </a:pPr>
              <a:r>
                <a:rPr lang="en-US" sz="1393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500 </a:t>
              </a:r>
              <a:r>
                <a:rPr lang="en-US" sz="1393">
                  <a:solidFill>
                    <a:srgbClr val="1F2937"/>
                  </a:solidFill>
                </a:rPr>
                <a:t>case</a:t>
              </a:r>
              <a:endParaRPr sz="1393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93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21 columns</a:t>
              </a:r>
              <a:endParaRPr sz="1791"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93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5 physical inputs</a:t>
              </a:r>
              <a:endParaRPr sz="1791"/>
            </a:p>
          </p:txBody>
        </p:sp>
      </p:grpSp>
      <p:grpSp>
        <p:nvGrpSpPr>
          <p:cNvPr id="91" name="Google Shape;91;p3"/>
          <p:cNvGrpSpPr/>
          <p:nvPr/>
        </p:nvGrpSpPr>
        <p:grpSpPr>
          <a:xfrm>
            <a:off x="9855088" y="2157087"/>
            <a:ext cx="2084433" cy="2657675"/>
            <a:chOff x="9691935" y="2063701"/>
            <a:chExt cx="1994100" cy="2542500"/>
          </a:xfrm>
        </p:grpSpPr>
        <p:sp>
          <p:nvSpPr>
            <p:cNvPr id="92" name="Google Shape;92;p3"/>
            <p:cNvSpPr/>
            <p:nvPr/>
          </p:nvSpPr>
          <p:spPr>
            <a:xfrm>
              <a:off x="9691935" y="2063701"/>
              <a:ext cx="1994100" cy="2542500"/>
            </a:xfrm>
            <a:prstGeom prst="roundRect">
              <a:avLst>
                <a:gd name="adj" fmla="val 16667"/>
              </a:avLst>
            </a:prstGeom>
            <a:solidFill>
              <a:srgbClr val="EAF2F8"/>
            </a:solidFill>
            <a:ln w="28950" cap="flat" cmpd="sng">
              <a:solidFill>
                <a:srgbClr val="2F75B5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algn="bl" rotWithShape="0">
                <a:srgbClr val="000000">
                  <a:alpha val="0"/>
                </a:srgbClr>
              </a:outerShdw>
            </a:effectLst>
          </p:spPr>
          <p:txBody>
            <a:bodyPr spcFirstLastPara="1" wrap="square" lIns="104200" tIns="52075" rIns="104200" bIns="520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4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3"/>
            <p:cNvSpPr/>
            <p:nvPr/>
          </p:nvSpPr>
          <p:spPr>
            <a:xfrm>
              <a:off x="10409795" y="2293018"/>
              <a:ext cx="548400" cy="548700"/>
            </a:xfrm>
            <a:prstGeom prst="ellipse">
              <a:avLst/>
            </a:prstGeom>
            <a:solidFill>
              <a:srgbClr val="2F75B5"/>
            </a:solidFill>
            <a:ln w="10850" cap="flat" cmpd="sng">
              <a:solidFill>
                <a:srgbClr val="2F75B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279"/>
                <a:buFont typeface="Arial"/>
                <a:buNone/>
              </a:pPr>
              <a:r>
                <a:rPr lang="en-US" sz="2475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sz="247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3"/>
            <p:cNvSpPr/>
            <p:nvPr/>
          </p:nvSpPr>
          <p:spPr>
            <a:xfrm>
              <a:off x="9841489" y="3010882"/>
              <a:ext cx="1695000" cy="34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17365D"/>
                </a:buClr>
                <a:buSzPts val="1482"/>
                <a:buFont typeface="Arial"/>
                <a:buNone/>
              </a:pPr>
              <a:r>
                <a:rPr lang="en-US" sz="1677" b="1">
                  <a:solidFill>
                    <a:srgbClr val="17365D"/>
                  </a:solidFill>
                  <a:latin typeface="Arial"/>
                  <a:ea typeface="Arial"/>
                  <a:cs typeface="Arial"/>
                  <a:sym typeface="Arial"/>
                </a:rPr>
                <a:t>ML / EDA</a:t>
              </a:r>
              <a:endParaRPr sz="16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3"/>
            <p:cNvSpPr/>
            <p:nvPr/>
          </p:nvSpPr>
          <p:spPr>
            <a:xfrm>
              <a:off x="9841489" y="3509398"/>
              <a:ext cx="1695000" cy="79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1F2937"/>
                </a:buClr>
                <a:buSzPts val="1197"/>
                <a:buFont typeface="Arial"/>
                <a:buNone/>
              </a:pPr>
              <a:r>
                <a:rPr lang="en-US" sz="1393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Current stage</a:t>
              </a:r>
              <a:endParaRPr sz="1393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93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EDA → modelling</a:t>
              </a:r>
              <a:endParaRPr sz="1791"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93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interpretation</a:t>
              </a:r>
              <a:endParaRPr sz="1791"/>
            </a:p>
          </p:txBody>
        </p:sp>
      </p:grpSp>
      <p:sp>
        <p:nvSpPr>
          <p:cNvPr id="96" name="Google Shape;96;p3"/>
          <p:cNvSpPr txBox="1">
            <a:spLocks noGrp="1"/>
          </p:cNvSpPr>
          <p:nvPr>
            <p:ph type="sldNum" idx="12"/>
          </p:nvPr>
        </p:nvSpPr>
        <p:spPr>
          <a:xfrm>
            <a:off x="11686032" y="6537960"/>
            <a:ext cx="18288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 b="0">
                <a:solidFill>
                  <a:srgbClr val="7A8793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800">
              <a:solidFill>
                <a:srgbClr val="7A879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/>
          <p:nvPr/>
        </p:nvSpPr>
        <p:spPr>
          <a:xfrm>
            <a:off x="530352" y="566928"/>
            <a:ext cx="7589520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400"/>
              <a:buFont typeface="Arial"/>
              <a:buNone/>
            </a:pPr>
            <a:r>
              <a:rPr lang="en-US" sz="3000" b="1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3. Data Generation Design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594348" y="1143000"/>
            <a:ext cx="67665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lang="en-US" sz="2000" b="1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Five independent inputs (Latin Hypercube Sampling)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640080" y="1737360"/>
            <a:ext cx="1920240" cy="960120"/>
          </a:xfrm>
          <a:prstGeom prst="roundRect">
            <a:avLst>
              <a:gd name="adj" fmla="val 16667"/>
            </a:avLst>
          </a:prstGeom>
          <a:solidFill>
            <a:srgbClr val="E5EEF7"/>
          </a:solidFill>
          <a:ln w="12700" cap="flat" cmpd="sng">
            <a:solidFill>
              <a:srgbClr val="C7D5E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749808" y="1901952"/>
            <a:ext cx="170078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1100"/>
              <a:buFont typeface="Arial"/>
              <a:buNone/>
            </a:pPr>
            <a:r>
              <a:rPr lang="en-US" sz="1600" b="1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Heatwave intensity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749808" y="2286000"/>
            <a:ext cx="1700784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F75B5"/>
              </a:buClr>
              <a:buSzPts val="1200"/>
              <a:buFont typeface="Arial"/>
              <a:buNone/>
            </a:pPr>
            <a:r>
              <a:rPr lang="en-US" sz="1700">
                <a:solidFill>
                  <a:srgbClr val="2F75B5"/>
                </a:solidFill>
                <a:latin typeface="Arial"/>
                <a:ea typeface="Arial"/>
                <a:cs typeface="Arial"/>
                <a:sym typeface="Arial"/>
              </a:rPr>
              <a:t>0–10 °C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2880360" y="1737360"/>
            <a:ext cx="1920240" cy="960120"/>
          </a:xfrm>
          <a:prstGeom prst="roundRect">
            <a:avLst>
              <a:gd name="adj" fmla="val 16667"/>
            </a:avLst>
          </a:prstGeom>
          <a:solidFill>
            <a:srgbClr val="EDF4FA"/>
          </a:solidFill>
          <a:ln w="12700" cap="flat" cmpd="sng">
            <a:solidFill>
              <a:srgbClr val="C7D5E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2990088" y="1901952"/>
            <a:ext cx="170078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1100"/>
              <a:buFont typeface="Arial"/>
              <a:buNone/>
            </a:pPr>
            <a:r>
              <a:rPr lang="en-US" sz="1600" b="1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Duration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2990088" y="2286000"/>
            <a:ext cx="1700784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F75B5"/>
              </a:buClr>
              <a:buSzPts val="1200"/>
              <a:buFont typeface="Arial"/>
              <a:buNone/>
            </a:pPr>
            <a:r>
              <a:rPr lang="en-US" sz="1700">
                <a:solidFill>
                  <a:srgbClr val="2F75B5"/>
                </a:solidFill>
                <a:latin typeface="Arial"/>
                <a:ea typeface="Arial"/>
                <a:cs typeface="Arial"/>
                <a:sym typeface="Arial"/>
              </a:rPr>
              <a:t>1–5 days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5120640" y="1737360"/>
            <a:ext cx="1920240" cy="960120"/>
          </a:xfrm>
          <a:prstGeom prst="roundRect">
            <a:avLst>
              <a:gd name="adj" fmla="val 16667"/>
            </a:avLst>
          </a:prstGeom>
          <a:solidFill>
            <a:srgbClr val="E5EEF7"/>
          </a:solidFill>
          <a:ln w="12700" cap="flat" cmpd="sng">
            <a:solidFill>
              <a:srgbClr val="C7D5E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5230368" y="1901952"/>
            <a:ext cx="170078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1100"/>
              <a:buFont typeface="Arial"/>
              <a:buNone/>
            </a:pPr>
            <a:r>
              <a:rPr lang="en-US" sz="1600" b="1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IT load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5230368" y="2286000"/>
            <a:ext cx="1700784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F75B5"/>
              </a:buClr>
              <a:buSzPts val="1200"/>
              <a:buFont typeface="Arial"/>
              <a:buNone/>
            </a:pPr>
            <a:r>
              <a:rPr lang="en-US" sz="1700">
                <a:solidFill>
                  <a:srgbClr val="2F75B5"/>
                </a:solidFill>
                <a:latin typeface="Arial"/>
                <a:ea typeface="Arial"/>
                <a:cs typeface="Arial"/>
                <a:sym typeface="Arial"/>
              </a:rPr>
              <a:t>300–1000 W/m²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7360920" y="1737360"/>
            <a:ext cx="1920240" cy="960120"/>
          </a:xfrm>
          <a:prstGeom prst="roundRect">
            <a:avLst>
              <a:gd name="adj" fmla="val 16667"/>
            </a:avLst>
          </a:prstGeom>
          <a:solidFill>
            <a:srgbClr val="EDF4FA"/>
          </a:solidFill>
          <a:ln w="12700" cap="flat" cmpd="sng">
            <a:solidFill>
              <a:srgbClr val="C7D5E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7470648" y="1901952"/>
            <a:ext cx="170078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1100"/>
              <a:buFont typeface="Arial"/>
              <a:buNone/>
            </a:pPr>
            <a:r>
              <a:rPr lang="en-US" sz="1600" b="1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Capacity ratio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7470648" y="2286000"/>
            <a:ext cx="1700784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F75B5"/>
              </a:buClr>
              <a:buSzPts val="1200"/>
              <a:buFont typeface="Arial"/>
              <a:buNone/>
            </a:pPr>
            <a:r>
              <a:rPr lang="en-US" sz="1700">
                <a:solidFill>
                  <a:srgbClr val="2F75B5"/>
                </a:solidFill>
                <a:latin typeface="Arial"/>
                <a:ea typeface="Arial"/>
                <a:cs typeface="Arial"/>
                <a:sym typeface="Arial"/>
              </a:rPr>
              <a:t>0.9–1.3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9601200" y="1737360"/>
            <a:ext cx="1920240" cy="960120"/>
          </a:xfrm>
          <a:prstGeom prst="roundRect">
            <a:avLst>
              <a:gd name="adj" fmla="val 16667"/>
            </a:avLst>
          </a:prstGeom>
          <a:solidFill>
            <a:srgbClr val="E5EEF7"/>
          </a:solidFill>
          <a:ln w="12700" cap="flat" cmpd="sng">
            <a:solidFill>
              <a:srgbClr val="C7D5E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9710928" y="1901952"/>
            <a:ext cx="170078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1100"/>
              <a:buFont typeface="Arial"/>
              <a:buNone/>
            </a:pPr>
            <a:r>
              <a:rPr lang="en-US" sz="1600" b="1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Cooling setpoint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9710928" y="2286000"/>
            <a:ext cx="1700784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F75B5"/>
              </a:buClr>
              <a:buSzPts val="1200"/>
              <a:buFont typeface="Arial"/>
              <a:buNone/>
            </a:pPr>
            <a:r>
              <a:rPr lang="en-US" sz="1700">
                <a:solidFill>
                  <a:srgbClr val="2F75B5"/>
                </a:solidFill>
                <a:latin typeface="Arial"/>
                <a:ea typeface="Arial"/>
                <a:cs typeface="Arial"/>
                <a:sym typeface="Arial"/>
              </a:rPr>
              <a:t>20–27 °C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640075" y="3063250"/>
            <a:ext cx="2474400" cy="3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1882"/>
              <a:buFont typeface="Arial"/>
              <a:buNone/>
            </a:pPr>
            <a:r>
              <a:rPr lang="en-US" sz="1882" b="1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Capacity formulation</a:t>
            </a:r>
            <a:endParaRPr sz="1882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747652" y="3654913"/>
            <a:ext cx="3388800" cy="537900"/>
          </a:xfrm>
          <a:prstGeom prst="rect">
            <a:avLst/>
          </a:prstGeom>
          <a:solidFill>
            <a:srgbClr val="FFFFFF"/>
          </a:solidFill>
          <a:ln w="11200" cap="flat" cmpd="sng">
            <a:solidFill>
              <a:srgbClr val="C9D4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118"/>
              <a:buFont typeface="Arial"/>
              <a:buNone/>
            </a:pPr>
            <a:r>
              <a:rPr lang="en-US" sz="1918" b="1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Qdesign = 68.089 × IT / 600</a:t>
            </a:r>
            <a:endParaRPr sz="1918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4351472" y="3654913"/>
            <a:ext cx="2151600" cy="5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F75B5"/>
              </a:buClr>
              <a:buSzPts val="1882"/>
              <a:buFont typeface="Arial"/>
              <a:buNone/>
            </a:pPr>
            <a:r>
              <a:rPr lang="en-US" sz="1882" b="1">
                <a:solidFill>
                  <a:srgbClr val="2F75B5"/>
                </a:solidFill>
                <a:latin typeface="Arial"/>
                <a:ea typeface="Arial"/>
                <a:cs typeface="Arial"/>
                <a:sym typeface="Arial"/>
              </a:rPr>
              <a:t>× Capacity Ratio</a:t>
            </a:r>
            <a:endParaRPr sz="1882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6610583" y="3654913"/>
            <a:ext cx="2259000" cy="5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82"/>
              <a:buFont typeface="Arial"/>
              <a:buNone/>
            </a:pPr>
            <a:r>
              <a:rPr lang="en-US" sz="1882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× (1 − 0.02 ΔT)</a:t>
            </a:r>
            <a:endParaRPr sz="1882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9084848" y="3654913"/>
            <a:ext cx="2528100" cy="5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48235"/>
              </a:buClr>
              <a:buSzPts val="1882"/>
              <a:buFont typeface="Arial"/>
              <a:buNone/>
            </a:pPr>
            <a:r>
              <a:rPr lang="en-US" sz="1882" b="1">
                <a:solidFill>
                  <a:srgbClr val="548235"/>
                </a:solidFill>
                <a:latin typeface="Arial"/>
                <a:ea typeface="Arial"/>
                <a:cs typeface="Arial"/>
                <a:sym typeface="Arial"/>
              </a:rPr>
              <a:t>= Available Capacity</a:t>
            </a:r>
            <a:endParaRPr sz="1882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628950" y="4462003"/>
            <a:ext cx="1942500" cy="3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1593"/>
              <a:buFont typeface="Arial"/>
              <a:buNone/>
            </a:pPr>
            <a:r>
              <a:rPr lang="en-US" sz="1893" b="1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Heatwave timing</a:t>
            </a:r>
            <a:endParaRPr sz="189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640075" y="4976890"/>
            <a:ext cx="5827800" cy="7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28"/>
              <a:buFont typeface="Arial"/>
              <a:buNone/>
            </a:pPr>
            <a:r>
              <a:rPr lang="en-US" sz="1628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All heatwaves are centred on the baseline peak-cooling day (May 21): 1 day = May 21; 5 days = May 19–23.</a:t>
            </a:r>
            <a:endParaRPr sz="1628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6815751" y="4389125"/>
            <a:ext cx="4856700" cy="164640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3500" cap="flat" cmpd="sng">
            <a:solidFill>
              <a:srgbClr val="D8E0E8"/>
            </a:solidFill>
            <a:prstDash val="solid"/>
            <a:round/>
            <a:headEnd type="none" w="sm" len="sm"/>
            <a:tailEnd type="none" w="sm" len="sm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 spcFirstLastPara="1" wrap="square" lIns="97125" tIns="48550" rIns="97125" bIns="485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12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6815751" y="4389125"/>
            <a:ext cx="68100" cy="1646400"/>
          </a:xfrm>
          <a:prstGeom prst="rect">
            <a:avLst/>
          </a:prstGeom>
          <a:solidFill>
            <a:srgbClr val="2F75B5"/>
          </a:solidFill>
          <a:ln w="13500" cap="flat" cmpd="sng">
            <a:solidFill>
              <a:srgbClr val="2F75B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7125" tIns="48550" rIns="97125" bIns="485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12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7029440" y="4570810"/>
            <a:ext cx="4516500" cy="3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1487"/>
              <a:buFont typeface="Arial"/>
              <a:buNone/>
            </a:pPr>
            <a:r>
              <a:rPr lang="en-US" sz="1787" b="1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Why this design?</a:t>
            </a:r>
            <a:endParaRPr sz="178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7029440" y="5025022"/>
            <a:ext cx="4487400" cy="8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5" tIns="275" rIns="275" bIns="275" anchor="ctr" anchorCtr="0">
            <a:normAutofit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68"/>
              <a:buFont typeface="Arial"/>
              <a:buNone/>
            </a:pPr>
            <a:r>
              <a:rPr lang="en-US" sz="1468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Heatwave timing is controlled to prevent date from becoming a hidden variable. Cooling capacity scales with IT load, while a 2%/°C derating strengthens heatwave–HVAC coupling.</a:t>
            </a:r>
            <a:endParaRPr sz="1468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4"/>
          <p:cNvSpPr txBox="1">
            <a:spLocks noGrp="1"/>
          </p:cNvSpPr>
          <p:nvPr>
            <p:ph type="sldNum" idx="12"/>
          </p:nvPr>
        </p:nvSpPr>
        <p:spPr>
          <a:xfrm>
            <a:off x="11686032" y="6537960"/>
            <a:ext cx="18288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 b="0">
                <a:solidFill>
                  <a:srgbClr val="7A8793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800">
              <a:solidFill>
                <a:srgbClr val="7A879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"/>
          <p:cNvSpPr/>
          <p:nvPr/>
        </p:nvSpPr>
        <p:spPr>
          <a:xfrm>
            <a:off x="530352" y="566928"/>
            <a:ext cx="7589520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400"/>
              <a:buFont typeface="Arial"/>
              <a:buNone/>
            </a:pPr>
            <a:r>
              <a:rPr lang="en-US" sz="3000" b="1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6. EDA — Thermal Risk Distribution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p7" descr="tmax_his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2920" y="1682997"/>
            <a:ext cx="5577840" cy="3171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7" descr="risk_bar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63640" y="1543419"/>
            <a:ext cx="5349240" cy="3451123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7"/>
          <p:cNvSpPr/>
          <p:nvPr/>
        </p:nvSpPr>
        <p:spPr>
          <a:xfrm>
            <a:off x="6718343" y="5412848"/>
            <a:ext cx="1517700" cy="313200"/>
          </a:xfrm>
          <a:prstGeom prst="rect">
            <a:avLst/>
          </a:prstGeom>
          <a:solidFill>
            <a:srgbClr val="E2F0D9"/>
          </a:solidFill>
          <a:ln w="10200" cap="flat" cmpd="sng">
            <a:solidFill>
              <a:srgbClr val="E2F0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25" tIns="525" rIns="525" bIns="5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48235"/>
              </a:buClr>
              <a:buSzPts val="1071"/>
              <a:buFont typeface="Arial"/>
              <a:buNone/>
            </a:pPr>
            <a:r>
              <a:rPr lang="en-US" sz="1671" b="1">
                <a:solidFill>
                  <a:srgbClr val="548235"/>
                </a:solidFill>
                <a:latin typeface="Arial"/>
                <a:ea typeface="Arial"/>
                <a:cs typeface="Arial"/>
                <a:sym typeface="Arial"/>
              </a:rPr>
              <a:t>Safe 360</a:t>
            </a:r>
            <a:endParaRPr sz="167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8432148" y="5412848"/>
            <a:ext cx="1665000" cy="313200"/>
          </a:xfrm>
          <a:prstGeom prst="rect">
            <a:avLst/>
          </a:prstGeom>
          <a:solidFill>
            <a:srgbClr val="FFF2CC"/>
          </a:solidFill>
          <a:ln w="10200" cap="flat" cmpd="sng">
            <a:solidFill>
              <a:srgbClr val="FFF2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25" tIns="525" rIns="525" bIns="5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F9000"/>
              </a:buClr>
              <a:buSzPts val="1071"/>
              <a:buFont typeface="Arial"/>
              <a:buNone/>
            </a:pPr>
            <a:r>
              <a:rPr lang="en-US" sz="1671" b="1">
                <a:solidFill>
                  <a:srgbClr val="BF9000"/>
                </a:solidFill>
                <a:latin typeface="Arial"/>
                <a:ea typeface="Arial"/>
                <a:cs typeface="Arial"/>
                <a:sym typeface="Arial"/>
              </a:rPr>
              <a:t>Warning 75</a:t>
            </a:r>
            <a:endParaRPr sz="167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10292851" y="5412848"/>
            <a:ext cx="1566900" cy="313200"/>
          </a:xfrm>
          <a:prstGeom prst="rect">
            <a:avLst/>
          </a:prstGeom>
          <a:solidFill>
            <a:srgbClr val="FCE4D6"/>
          </a:solidFill>
          <a:ln w="10200" cap="flat" cmpd="sng">
            <a:solidFill>
              <a:srgbClr val="FCE4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25" tIns="525" rIns="525" bIns="5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071"/>
              <a:buFont typeface="Arial"/>
              <a:buNone/>
            </a:pPr>
            <a:r>
              <a:rPr lang="en-US" sz="1671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Failure 65</a:t>
            </a:r>
            <a:endParaRPr sz="167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388598" y="5306399"/>
            <a:ext cx="61839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5717E"/>
              </a:buClr>
              <a:buSzPts val="964"/>
              <a:buFont typeface="Arial"/>
              <a:buNone/>
            </a:pPr>
            <a:r>
              <a:rPr lang="en-US" sz="1792">
                <a:solidFill>
                  <a:srgbClr val="65717E"/>
                </a:solidFill>
                <a:latin typeface="Arial"/>
                <a:ea typeface="Arial"/>
                <a:cs typeface="Arial"/>
                <a:sym typeface="Arial"/>
              </a:rPr>
              <a:t>Provisional thresholds for EDA: Safe &lt;27°C; Warning 27–30°C; Failure ≥30°C. </a:t>
            </a:r>
            <a:endParaRPr sz="1792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7"/>
          <p:cNvSpPr txBox="1">
            <a:spLocks noGrp="1"/>
          </p:cNvSpPr>
          <p:nvPr>
            <p:ph type="sldNum" idx="12"/>
          </p:nvPr>
        </p:nvSpPr>
        <p:spPr>
          <a:xfrm>
            <a:off x="11686032" y="6537960"/>
            <a:ext cx="18288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 b="0">
                <a:solidFill>
                  <a:srgbClr val="7A8793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800">
              <a:solidFill>
                <a:srgbClr val="7A879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"/>
          <p:cNvSpPr/>
          <p:nvPr/>
        </p:nvSpPr>
        <p:spPr>
          <a:xfrm>
            <a:off x="530352" y="566928"/>
            <a:ext cx="7589520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400"/>
              <a:buFont typeface="Arial"/>
              <a:buNone/>
            </a:pPr>
            <a:r>
              <a:rPr lang="en-US" sz="3000" b="1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7. EDA — Key Relationships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0" name="Google Shape;150;p8" descr="scatter_intensity_tmax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2920" y="1509726"/>
            <a:ext cx="5623560" cy="35642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8" descr="scatter_capacity_tmax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72200" y="1553192"/>
            <a:ext cx="5486400" cy="3477296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8"/>
          <p:cNvSpPr/>
          <p:nvPr/>
        </p:nvSpPr>
        <p:spPr>
          <a:xfrm>
            <a:off x="728178" y="5440675"/>
            <a:ext cx="52230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Arial"/>
              <a:buNone/>
            </a:pPr>
            <a:r>
              <a:rPr lang="en-US" sz="2000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Heatwave intensity ↑ generally raises risk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6571400" y="5440800"/>
            <a:ext cx="5087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48235"/>
              </a:buClr>
              <a:buSzPts val="1200"/>
              <a:buFont typeface="Arial"/>
              <a:buNone/>
            </a:pPr>
            <a:r>
              <a:rPr lang="en-US" sz="2000" b="1">
                <a:solidFill>
                  <a:srgbClr val="548235"/>
                </a:solidFill>
                <a:latin typeface="Arial"/>
                <a:ea typeface="Arial"/>
                <a:cs typeface="Arial"/>
                <a:sym typeface="Arial"/>
              </a:rPr>
              <a:t>Capacity ratio ↑ generally suppresses risk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594360" y="5969887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5717E"/>
              </a:buClr>
              <a:buSzPts val="900"/>
              <a:buFont typeface="Arial"/>
              <a:buNone/>
            </a:pPr>
            <a:r>
              <a:rPr lang="en-US" sz="1800">
                <a:solidFill>
                  <a:srgbClr val="65717E"/>
                </a:solidFill>
                <a:latin typeface="Arial"/>
                <a:ea typeface="Arial"/>
                <a:cs typeface="Arial"/>
                <a:sym typeface="Arial"/>
              </a:rPr>
              <a:t>high intensity is most problematic when capacity margin is low.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8"/>
          <p:cNvSpPr txBox="1">
            <a:spLocks noGrp="1"/>
          </p:cNvSpPr>
          <p:nvPr>
            <p:ph type="sldNum" idx="12"/>
          </p:nvPr>
        </p:nvSpPr>
        <p:spPr>
          <a:xfrm>
            <a:off x="11686032" y="6537960"/>
            <a:ext cx="18288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 b="0">
                <a:solidFill>
                  <a:srgbClr val="7A8793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800">
              <a:solidFill>
                <a:srgbClr val="7A879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"/>
          <p:cNvSpPr/>
          <p:nvPr/>
        </p:nvSpPr>
        <p:spPr>
          <a:xfrm>
            <a:off x="530350" y="566925"/>
            <a:ext cx="8487900" cy="4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400"/>
              <a:buFont typeface="Arial"/>
              <a:buNone/>
            </a:pPr>
            <a:r>
              <a:rPr lang="en-US" sz="3000" b="1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10. Data Quality Note 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1"/>
          <p:cNvSpPr/>
          <p:nvPr/>
        </p:nvSpPr>
        <p:spPr>
          <a:xfrm>
            <a:off x="7191350" y="1363830"/>
            <a:ext cx="4494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900"/>
              <a:buFont typeface="Arial"/>
              <a:buNone/>
            </a:pPr>
            <a:r>
              <a:rPr lang="en-US" sz="2000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Extreme Tmax is a model failure state, not a</a:t>
            </a:r>
            <a:r>
              <a:rPr lang="en-US" sz="2000" b="1">
                <a:solidFill>
                  <a:srgbClr val="C00000"/>
                </a:solidFill>
              </a:rPr>
              <a:t>n</a:t>
            </a:r>
            <a:r>
              <a:rPr lang="en-US" sz="2000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operating temperature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1"/>
          <p:cNvSpPr/>
          <p:nvPr/>
        </p:nvSpPr>
        <p:spPr>
          <a:xfrm>
            <a:off x="685800" y="1359250"/>
            <a:ext cx="1874400" cy="914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D4DCE5"/>
            </a:solidFill>
            <a:prstDash val="solid"/>
            <a:round/>
            <a:headEnd type="none" w="sm" len="sm"/>
            <a:tailEnd type="none" w="sm" len="sm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1"/>
          <p:cNvSpPr/>
          <p:nvPr/>
        </p:nvSpPr>
        <p:spPr>
          <a:xfrm>
            <a:off x="822960" y="1514698"/>
            <a:ext cx="16002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300"/>
              <a:buFont typeface="Arial"/>
              <a:buNone/>
            </a:pPr>
            <a:r>
              <a:rPr lang="en-US" sz="2300" b="1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65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1"/>
          <p:cNvSpPr/>
          <p:nvPr/>
        </p:nvSpPr>
        <p:spPr>
          <a:xfrm>
            <a:off x="822960" y="1917034"/>
            <a:ext cx="16002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5717E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65717E"/>
                </a:solidFill>
                <a:latin typeface="Arial"/>
                <a:ea typeface="Arial"/>
                <a:cs typeface="Arial"/>
                <a:sym typeface="Arial"/>
              </a:rPr>
              <a:t>≥30°C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1"/>
          <p:cNvSpPr/>
          <p:nvPr/>
        </p:nvSpPr>
        <p:spPr>
          <a:xfrm>
            <a:off x="2926080" y="1359250"/>
            <a:ext cx="1874400" cy="914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D4DCE5"/>
            </a:solidFill>
            <a:prstDash val="solid"/>
            <a:round/>
            <a:headEnd type="none" w="sm" len="sm"/>
            <a:tailEnd type="none" w="sm" len="sm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1"/>
          <p:cNvSpPr/>
          <p:nvPr/>
        </p:nvSpPr>
        <p:spPr>
          <a:xfrm>
            <a:off x="3063240" y="1514698"/>
            <a:ext cx="16002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300"/>
              <a:buFont typeface="Arial"/>
              <a:buNone/>
            </a:pPr>
            <a:r>
              <a:rPr lang="en-US" sz="2300" b="1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1"/>
          <p:cNvSpPr/>
          <p:nvPr/>
        </p:nvSpPr>
        <p:spPr>
          <a:xfrm>
            <a:off x="3063240" y="1917034"/>
            <a:ext cx="16002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5717E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65717E"/>
                </a:solidFill>
                <a:latin typeface="Arial"/>
                <a:ea typeface="Arial"/>
                <a:cs typeface="Arial"/>
                <a:sym typeface="Arial"/>
              </a:rPr>
              <a:t>≥40°C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1"/>
          <p:cNvSpPr/>
          <p:nvPr/>
        </p:nvSpPr>
        <p:spPr>
          <a:xfrm>
            <a:off x="5166360" y="1359250"/>
            <a:ext cx="1874400" cy="914400"/>
          </a:xfrm>
          <a:prstGeom prst="roundRect">
            <a:avLst>
              <a:gd name="adj" fmla="val 16667"/>
            </a:avLst>
          </a:prstGeom>
          <a:solidFill>
            <a:srgbClr val="FCE4D6"/>
          </a:solidFill>
          <a:ln w="127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</p:txBody>
      </p:sp>
      <p:sp>
        <p:nvSpPr>
          <p:cNvPr id="170" name="Google Shape;170;p11"/>
          <p:cNvSpPr/>
          <p:nvPr/>
        </p:nvSpPr>
        <p:spPr>
          <a:xfrm>
            <a:off x="5303520" y="1514698"/>
            <a:ext cx="16002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300"/>
              <a:buFont typeface="Arial"/>
              <a:buNone/>
            </a:pPr>
            <a:r>
              <a:rPr lang="en-US" sz="2300" b="1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1"/>
          <p:cNvSpPr/>
          <p:nvPr/>
        </p:nvSpPr>
        <p:spPr>
          <a:xfrm>
            <a:off x="5303520" y="1917034"/>
            <a:ext cx="16002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5717E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65717E"/>
                </a:solidFill>
                <a:latin typeface="Arial"/>
                <a:ea typeface="Arial"/>
                <a:cs typeface="Arial"/>
                <a:sym typeface="Arial"/>
              </a:rPr>
              <a:t>≥50°C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1"/>
          <p:cNvSpPr/>
          <p:nvPr/>
        </p:nvSpPr>
        <p:spPr>
          <a:xfrm>
            <a:off x="731525" y="2812515"/>
            <a:ext cx="5166300" cy="246090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 cap="flat" cmpd="sng">
            <a:solidFill>
              <a:srgbClr val="D8E0E8"/>
            </a:solidFill>
            <a:prstDash val="solid"/>
            <a:round/>
            <a:headEnd type="none" w="sm" len="sm"/>
            <a:tailEnd type="none" w="sm" len="sm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1"/>
          <p:cNvSpPr/>
          <p:nvPr/>
        </p:nvSpPr>
        <p:spPr>
          <a:xfrm flipH="1">
            <a:off x="746557" y="2812515"/>
            <a:ext cx="63900" cy="2460900"/>
          </a:xfrm>
          <a:prstGeom prst="rect">
            <a:avLst/>
          </a:prstGeom>
          <a:solidFill>
            <a:srgbClr val="C00000"/>
          </a:solidFill>
          <a:ln w="127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1"/>
          <p:cNvSpPr/>
          <p:nvPr/>
        </p:nvSpPr>
        <p:spPr>
          <a:xfrm>
            <a:off x="932688" y="3073578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1400"/>
              <a:buFont typeface="Arial"/>
              <a:buNone/>
            </a:pPr>
            <a:r>
              <a:rPr lang="en-US" sz="2000" b="1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Why runaway occurs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1"/>
          <p:cNvSpPr/>
          <p:nvPr/>
        </p:nvSpPr>
        <p:spPr>
          <a:xfrm>
            <a:off x="932700" y="3302722"/>
            <a:ext cx="4818900" cy="18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The model maintains continuous IT heat release. When heat generation persistently exceeds available cooling, the zone heat balance continues to raise the temperature.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1"/>
          <p:cNvSpPr/>
          <p:nvPr/>
        </p:nvSpPr>
        <p:spPr>
          <a:xfrm>
            <a:off x="6263650" y="2812515"/>
            <a:ext cx="5166300" cy="246090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 cap="flat" cmpd="sng">
            <a:solidFill>
              <a:srgbClr val="D8E0E8"/>
            </a:solidFill>
            <a:prstDash val="solid"/>
            <a:round/>
            <a:headEnd type="none" w="sm" len="sm"/>
            <a:tailEnd type="none" w="sm" len="sm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1"/>
          <p:cNvSpPr/>
          <p:nvPr/>
        </p:nvSpPr>
        <p:spPr>
          <a:xfrm>
            <a:off x="6263647" y="2812515"/>
            <a:ext cx="63900" cy="2460900"/>
          </a:xfrm>
          <a:prstGeom prst="rect">
            <a:avLst/>
          </a:prstGeom>
          <a:solidFill>
            <a:srgbClr val="2F75B5"/>
          </a:solidFill>
          <a:ln w="12700" cap="flat" cmpd="sng">
            <a:solidFill>
              <a:srgbClr val="2F75B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1"/>
          <p:cNvSpPr/>
          <p:nvPr/>
        </p:nvSpPr>
        <p:spPr>
          <a:xfrm>
            <a:off x="6451158" y="3073565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1400"/>
              <a:buFont typeface="Arial"/>
              <a:buNone/>
            </a:pPr>
            <a:r>
              <a:rPr lang="en-US" sz="2000" b="1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Recommended ML treatment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1"/>
          <p:cNvSpPr/>
          <p:nvPr/>
        </p:nvSpPr>
        <p:spPr>
          <a:xfrm>
            <a:off x="6464800" y="3302822"/>
            <a:ext cx="4818900" cy="18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Retain the raw data and add a Thermal_Runaway flag . These cases remain Failure in classification; Tmax regression can report both the full dataset and a non-runaway subset.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1"/>
          <p:cNvSpPr txBox="1">
            <a:spLocks noGrp="1"/>
          </p:cNvSpPr>
          <p:nvPr>
            <p:ph type="sldNum" idx="12"/>
          </p:nvPr>
        </p:nvSpPr>
        <p:spPr>
          <a:xfrm>
            <a:off x="11686032" y="6537960"/>
            <a:ext cx="18288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 b="0">
                <a:solidFill>
                  <a:srgbClr val="7A8793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800">
              <a:solidFill>
                <a:srgbClr val="7A879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2"/>
          <p:cNvSpPr/>
          <p:nvPr/>
        </p:nvSpPr>
        <p:spPr>
          <a:xfrm>
            <a:off x="530352" y="566928"/>
            <a:ext cx="7589520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400"/>
              <a:buFont typeface="Arial"/>
              <a:buNone/>
            </a:pPr>
            <a:r>
              <a:rPr lang="en-US" sz="3000" b="1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11. Potential Method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2"/>
          <p:cNvSpPr/>
          <p:nvPr/>
        </p:nvSpPr>
        <p:spPr>
          <a:xfrm>
            <a:off x="594360" y="1828800"/>
            <a:ext cx="182880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CFD9E3"/>
            </a:solidFill>
            <a:prstDash val="solid"/>
            <a:round/>
            <a:headEnd type="none" w="sm" len="sm"/>
            <a:tailEnd type="none" w="sm" len="sm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2"/>
          <p:cNvSpPr/>
          <p:nvPr/>
        </p:nvSpPr>
        <p:spPr>
          <a:xfrm>
            <a:off x="704088" y="2103120"/>
            <a:ext cx="160934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1300"/>
              <a:buFont typeface="Arial"/>
              <a:buNone/>
            </a:pPr>
            <a:r>
              <a:rPr lang="en-US" sz="1800" b="1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Raw dataset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2"/>
          <p:cNvSpPr/>
          <p:nvPr/>
        </p:nvSpPr>
        <p:spPr>
          <a:xfrm>
            <a:off x="731520" y="2743200"/>
            <a:ext cx="155448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500 cases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5 physical inputs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0" name="Google Shape;190;p12"/>
          <p:cNvCxnSpPr/>
          <p:nvPr/>
        </p:nvCxnSpPr>
        <p:spPr>
          <a:xfrm>
            <a:off x="2468880" y="3063240"/>
            <a:ext cx="228600" cy="0"/>
          </a:xfrm>
          <a:prstGeom prst="straightConnector1">
            <a:avLst/>
          </a:prstGeom>
          <a:noFill/>
          <a:ln w="25400" cap="flat" cmpd="sng">
            <a:solidFill>
              <a:srgbClr val="8FAADC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cxnSp>
      <p:sp>
        <p:nvSpPr>
          <p:cNvPr id="191" name="Google Shape;191;p12"/>
          <p:cNvSpPr/>
          <p:nvPr/>
        </p:nvSpPr>
        <p:spPr>
          <a:xfrm>
            <a:off x="2743200" y="1828800"/>
            <a:ext cx="182880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CFD9E3"/>
            </a:solidFill>
            <a:prstDash val="solid"/>
            <a:round/>
            <a:headEnd type="none" w="sm" len="sm"/>
            <a:tailEnd type="none" w="sm" len="sm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2"/>
          <p:cNvSpPr/>
          <p:nvPr/>
        </p:nvSpPr>
        <p:spPr>
          <a:xfrm>
            <a:off x="2778511" y="2103125"/>
            <a:ext cx="17649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1300"/>
              <a:buFont typeface="Arial"/>
              <a:buNone/>
            </a:pPr>
            <a:r>
              <a:rPr lang="en-US" sz="1800" b="1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Pre-processing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2"/>
          <p:cNvSpPr/>
          <p:nvPr/>
        </p:nvSpPr>
        <p:spPr>
          <a:xfrm>
            <a:off x="2880360" y="2743200"/>
            <a:ext cx="155448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QC / labels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train-test split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4" name="Google Shape;194;p12"/>
          <p:cNvCxnSpPr/>
          <p:nvPr/>
        </p:nvCxnSpPr>
        <p:spPr>
          <a:xfrm>
            <a:off x="4617720" y="3063240"/>
            <a:ext cx="320040" cy="0"/>
          </a:xfrm>
          <a:prstGeom prst="straightConnector1">
            <a:avLst/>
          </a:prstGeom>
          <a:noFill/>
          <a:ln w="25400" cap="flat" cmpd="sng">
            <a:solidFill>
              <a:srgbClr val="8FAADC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cxnSp>
      <p:sp>
        <p:nvSpPr>
          <p:cNvPr id="195" name="Google Shape;195;p12"/>
          <p:cNvSpPr/>
          <p:nvPr/>
        </p:nvSpPr>
        <p:spPr>
          <a:xfrm>
            <a:off x="4983480" y="1828800"/>
            <a:ext cx="1828800" cy="2468880"/>
          </a:xfrm>
          <a:prstGeom prst="roundRect">
            <a:avLst>
              <a:gd name="adj" fmla="val 16667"/>
            </a:avLst>
          </a:prstGeom>
          <a:solidFill>
            <a:srgbClr val="EAF2F8"/>
          </a:solidFill>
          <a:ln w="25400" cap="flat" cmpd="sng">
            <a:solidFill>
              <a:srgbClr val="2F75B5"/>
            </a:solidFill>
            <a:prstDash val="solid"/>
            <a:round/>
            <a:headEnd type="none" w="sm" len="sm"/>
            <a:tailEnd type="none" w="sm" len="sm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2"/>
          <p:cNvSpPr/>
          <p:nvPr/>
        </p:nvSpPr>
        <p:spPr>
          <a:xfrm>
            <a:off x="5093208" y="2103120"/>
            <a:ext cx="16092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1300"/>
              <a:buFont typeface="Arial"/>
              <a:buNone/>
            </a:pPr>
            <a:r>
              <a:rPr lang="en-US" sz="1800" b="1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Model training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2"/>
          <p:cNvSpPr/>
          <p:nvPr/>
        </p:nvSpPr>
        <p:spPr>
          <a:xfrm>
            <a:off x="5120640" y="2743200"/>
            <a:ext cx="155448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Classification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Regression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Cross-validation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8" name="Google Shape;198;p12"/>
          <p:cNvCxnSpPr/>
          <p:nvPr/>
        </p:nvCxnSpPr>
        <p:spPr>
          <a:xfrm>
            <a:off x="6858000" y="3063240"/>
            <a:ext cx="320040" cy="0"/>
          </a:xfrm>
          <a:prstGeom prst="straightConnector1">
            <a:avLst/>
          </a:prstGeom>
          <a:noFill/>
          <a:ln w="25400" cap="flat" cmpd="sng">
            <a:solidFill>
              <a:srgbClr val="8FAADC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cxnSp>
      <p:sp>
        <p:nvSpPr>
          <p:cNvPr id="199" name="Google Shape;199;p12"/>
          <p:cNvSpPr/>
          <p:nvPr/>
        </p:nvSpPr>
        <p:spPr>
          <a:xfrm>
            <a:off x="7223760" y="1828800"/>
            <a:ext cx="182880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CFD9E3"/>
            </a:solidFill>
            <a:prstDash val="solid"/>
            <a:round/>
            <a:headEnd type="none" w="sm" len="sm"/>
            <a:tailEnd type="none" w="sm" len="sm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2"/>
          <p:cNvSpPr/>
          <p:nvPr/>
        </p:nvSpPr>
        <p:spPr>
          <a:xfrm>
            <a:off x="7333488" y="2103120"/>
            <a:ext cx="16092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1300"/>
              <a:buFont typeface="Arial"/>
              <a:buNone/>
            </a:pPr>
            <a:r>
              <a:rPr lang="en-US" sz="1800" b="1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Evaluation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2"/>
          <p:cNvSpPr/>
          <p:nvPr/>
        </p:nvSpPr>
        <p:spPr>
          <a:xfrm>
            <a:off x="7360920" y="2743200"/>
            <a:ext cx="155448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F1 / Recall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R² / MAE / RMSE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2" name="Google Shape;202;p12"/>
          <p:cNvCxnSpPr/>
          <p:nvPr/>
        </p:nvCxnSpPr>
        <p:spPr>
          <a:xfrm>
            <a:off x="9098280" y="3063240"/>
            <a:ext cx="320040" cy="0"/>
          </a:xfrm>
          <a:prstGeom prst="straightConnector1">
            <a:avLst/>
          </a:prstGeom>
          <a:noFill/>
          <a:ln w="25400" cap="flat" cmpd="sng">
            <a:solidFill>
              <a:srgbClr val="8FAADC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cxnSp>
      <p:sp>
        <p:nvSpPr>
          <p:cNvPr id="203" name="Google Shape;203;p12"/>
          <p:cNvSpPr/>
          <p:nvPr/>
        </p:nvSpPr>
        <p:spPr>
          <a:xfrm>
            <a:off x="9464040" y="1828800"/>
            <a:ext cx="182880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CFD9E3"/>
            </a:solidFill>
            <a:prstDash val="solid"/>
            <a:round/>
            <a:headEnd type="none" w="sm" len="sm"/>
            <a:tailEnd type="none" w="sm" len="sm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2"/>
          <p:cNvSpPr/>
          <p:nvPr/>
        </p:nvSpPr>
        <p:spPr>
          <a:xfrm>
            <a:off x="9573768" y="2103120"/>
            <a:ext cx="160934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1300"/>
              <a:buFont typeface="Arial"/>
              <a:buNone/>
            </a:pPr>
            <a:r>
              <a:rPr lang="en-US" sz="1800" b="1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Interpretation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2"/>
          <p:cNvSpPr/>
          <p:nvPr/>
        </p:nvSpPr>
        <p:spPr>
          <a:xfrm>
            <a:off x="9601200" y="2743200"/>
            <a:ext cx="155448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Feature importance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SHAP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Failure boundary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2"/>
          <p:cNvSpPr/>
          <p:nvPr/>
        </p:nvSpPr>
        <p:spPr>
          <a:xfrm>
            <a:off x="167775" y="4818450"/>
            <a:ext cx="2148600" cy="6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1720"/>
              <a:buFont typeface="Arial"/>
              <a:buNone/>
            </a:pPr>
            <a:r>
              <a:rPr lang="en-US" sz="1811" b="1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Candidate models</a:t>
            </a:r>
            <a:endParaRPr sz="181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2"/>
          <p:cNvSpPr/>
          <p:nvPr/>
        </p:nvSpPr>
        <p:spPr>
          <a:xfrm>
            <a:off x="2372319" y="4754875"/>
            <a:ext cx="1853400" cy="681300"/>
          </a:xfrm>
          <a:prstGeom prst="rect">
            <a:avLst/>
          </a:prstGeom>
          <a:solidFill>
            <a:srgbClr val="DCE6F1"/>
          </a:solidFill>
          <a:ln w="11700" cap="flat" cmpd="sng">
            <a:solidFill>
              <a:srgbClr val="DCE6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1229"/>
              <a:buFont typeface="Arial"/>
              <a:buNone/>
            </a:pPr>
            <a:r>
              <a:rPr lang="en-US" sz="1597" b="1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Logistic / Linear</a:t>
            </a:r>
            <a:endParaRPr sz="159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2"/>
          <p:cNvSpPr/>
          <p:nvPr/>
        </p:nvSpPr>
        <p:spPr>
          <a:xfrm>
            <a:off x="4450597" y="4754875"/>
            <a:ext cx="1629000" cy="681300"/>
          </a:xfrm>
          <a:prstGeom prst="rect">
            <a:avLst/>
          </a:prstGeom>
          <a:solidFill>
            <a:srgbClr val="DCE6F1"/>
          </a:solidFill>
          <a:ln w="11700" cap="flat" cmpd="sng">
            <a:solidFill>
              <a:srgbClr val="DCE6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1229"/>
              <a:buFont typeface="Arial"/>
              <a:buNone/>
            </a:pPr>
            <a:r>
              <a:rPr lang="en-US" sz="1597" b="1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Decision Tree</a:t>
            </a:r>
            <a:endParaRPr sz="159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2"/>
          <p:cNvSpPr/>
          <p:nvPr/>
        </p:nvSpPr>
        <p:spPr>
          <a:xfrm>
            <a:off x="6304197" y="4754875"/>
            <a:ext cx="1629000" cy="681300"/>
          </a:xfrm>
          <a:prstGeom prst="rect">
            <a:avLst/>
          </a:prstGeom>
          <a:solidFill>
            <a:srgbClr val="DCE6F1"/>
          </a:solidFill>
          <a:ln w="11700" cap="flat" cmpd="sng">
            <a:solidFill>
              <a:srgbClr val="DCE6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1229"/>
              <a:buFont typeface="Arial"/>
              <a:buNone/>
            </a:pPr>
            <a:r>
              <a:rPr lang="en-US" sz="1597" b="1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Random Forest</a:t>
            </a:r>
            <a:endParaRPr sz="159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2"/>
          <p:cNvSpPr/>
          <p:nvPr/>
        </p:nvSpPr>
        <p:spPr>
          <a:xfrm>
            <a:off x="8157797" y="4754875"/>
            <a:ext cx="1853700" cy="681300"/>
          </a:xfrm>
          <a:prstGeom prst="rect">
            <a:avLst/>
          </a:prstGeom>
          <a:solidFill>
            <a:srgbClr val="DCE6F1"/>
          </a:solidFill>
          <a:ln w="11700" cap="flat" cmpd="sng">
            <a:solidFill>
              <a:srgbClr val="DCE6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1229"/>
              <a:buFont typeface="Arial"/>
              <a:buNone/>
            </a:pPr>
            <a:r>
              <a:rPr lang="en-US" sz="1597" b="1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Gradient Boosting</a:t>
            </a:r>
            <a:endParaRPr sz="159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2"/>
          <p:cNvSpPr/>
          <p:nvPr/>
        </p:nvSpPr>
        <p:spPr>
          <a:xfrm>
            <a:off x="10236075" y="4754875"/>
            <a:ext cx="1348200" cy="681300"/>
          </a:xfrm>
          <a:prstGeom prst="rect">
            <a:avLst/>
          </a:prstGeom>
          <a:solidFill>
            <a:srgbClr val="DCE6F1"/>
          </a:solidFill>
          <a:ln w="11700" cap="flat" cmpd="sng">
            <a:solidFill>
              <a:srgbClr val="DCE6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1229"/>
              <a:buFont typeface="Arial"/>
              <a:buNone/>
            </a:pPr>
            <a:r>
              <a:rPr lang="en-US" sz="1597" b="1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XGBoost</a:t>
            </a:r>
            <a:endParaRPr sz="159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2"/>
          <p:cNvSpPr txBox="1">
            <a:spLocks noGrp="1"/>
          </p:cNvSpPr>
          <p:nvPr>
            <p:ph type="sldNum" idx="12"/>
          </p:nvPr>
        </p:nvSpPr>
        <p:spPr>
          <a:xfrm>
            <a:off x="11686020" y="6537950"/>
            <a:ext cx="320100" cy="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 b="0">
                <a:solidFill>
                  <a:srgbClr val="7A8793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800">
              <a:solidFill>
                <a:srgbClr val="7A879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556</Words>
  <Application>Microsoft Office PowerPoint</Application>
  <PresentationFormat>Widescreen</PresentationFormat>
  <Paragraphs>135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OpenAI</dc:creator>
  <cp:lastModifiedBy>Zhao Dingyi</cp:lastModifiedBy>
  <cp:revision>1</cp:revision>
  <dcterms:created xsi:type="dcterms:W3CDTF">2026-10-03T07:40:06Z</dcterms:created>
  <dcterms:modified xsi:type="dcterms:W3CDTF">2026-10-03T08:43:19Z</dcterms:modified>
</cp:coreProperties>
</file>